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01   </a:t>
            </a:r>
            <a:r>
              <a:rPr sz="3200" b="1">
                <a:solidFill>
                  <a:srgbClr val="F0F0F0"/>
                </a:solidFill>
                <a:latin typeface="Calibri"/>
              </a:rPr>
              <a:t>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181371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INPUTS: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LATTICE      := PERIODICITY + WYCKOFF_DECORATION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ENVIRONMENT  := { TEMPERATURE, PRESSURE, FIELD, ...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CONDITIONS   := jet_turbine_class()   // hot, high-field, cycled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GOAL: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OPERATOR.predict_next_state(CURRENT_STATE) -&gt; NEXT_STATE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75000"/>
            <a:ext cx="1127729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A crystal under harsh conditions, with a multiphysics state that changes over time. The goal is an operator that predicts the next state. Running this forward with full DFT/MD at every step is too expensive, so something cheaper is needed that still respects the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02   </a:t>
            </a:r>
            <a:r>
              <a:rPr sz="3200" b="1">
                <a:solidFill>
                  <a:srgbClr val="F0F0F0"/>
                </a:solidFill>
                <a:latin typeface="Calibri"/>
              </a:rPr>
              <a:t>Propose and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1593799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TRADITIONAL: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NEXT_STATE := SIMULATE(CURRENT_STATE, DT)        // expensive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PROPOSE_AND_CHECK: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NEXT_STATE := PROPOSE(CURRENT_STATE)              // produced externally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</a:t>
            </a:r>
            <a:r>
              <a:rPr sz="1300">
                <a:solidFill>
                  <a:srgbClr val="B5CEA8"/>
                </a:solidFill>
                <a:latin typeface="Consolas"/>
              </a:rPr>
              <a:t>ASSERT</a:t>
            </a:r>
            <a:r>
              <a:rPr sz="1300">
                <a:solidFill>
                  <a:srgbClr val="9CDCFE"/>
                </a:solidFill>
                <a:latin typeface="Consolas"/>
              </a:rPr>
              <a:t>( IS_CONSISTENT_WITH_LAWS(NEXT_STATE) )     // checked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55087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The question changes from "what does the lattice do next?" to "is this candidate next state consistent with the laws?". Producing a next state is harder than checking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03   </a:t>
            </a:r>
            <a:r>
              <a:rPr sz="3200" b="1">
                <a:solidFill>
                  <a:srgbClr val="F0F0F0"/>
                </a:solidFill>
                <a:latin typeface="Calibri"/>
              </a:rPr>
              <a:t>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2253538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STATE :=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CELL_VECTORS,         // shape of the box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ION_POSITIONS,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ION_MOMENTA,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CELL_MOMENTUM,        // box can deform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SPECIES_LABELS,       // immutable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DENSITY_MATRIX,       // ELECTRON_STATE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EM_POTENTIAL,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14826"/>
            <a:ext cx="1127729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These are the irreducible degrees of freedom. Vibrations, carrier distributions, lattice temperatures, and currents are emergent — coarse-grainings, semiclassical limits, or averages over the irreducible state: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64634"/>
            <a:ext cx="11277295" cy="934059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EMERGENT_PHONONS    := COARSE_GRAIN(ION_POSITIONS, ION_MOMENTA)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EMERGENT_CARRIERS   := SEMICLASSICAL_LIMIT(DENSITY_MATRIX)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EMERGENT_TEMPERATURE := AVERAGE_OVER(MOMENTA)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0842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Storing them as part of the state would force constraint manifolds back to the irreducible variables and undo the savings.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04   </a:t>
            </a:r>
            <a:r>
              <a:rPr sz="3200" b="1">
                <a:solidFill>
                  <a:srgbClr val="F0F0F0"/>
                </a:solidFill>
                <a:latin typeface="Calibri"/>
              </a:rPr>
              <a:t>ELECTRON_STATE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The dense one-body density matrix is </a:t>
            </a:r>
            <a:r>
              <a:rPr sz="1500">
                <a:solidFill>
                  <a:srgbClr val="9CDCFE"/>
                </a:solidFill>
                <a:latin typeface="Consolas"/>
              </a:rPr>
              <a:t>O(N_R * N_R)</a:t>
            </a:r>
            <a:r>
              <a:rPr sz="1600">
                <a:solidFill>
                  <a:srgbClr val="D0D0D0"/>
                </a:solidFill>
                <a:latin typeface="Calibri"/>
              </a:rPr>
              <a:t>, hundreds of MB per snapshot. Stored as orbitals it drops by roughly 25x: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77295" cy="714146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NAIVE:    SIZE(DENSE_ELECTRON_STATE)        // ~460 MB per k-mesh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ACTUAL:   SIZE(ELECTRON_STATE_AS_ORBITALS)  // ~18 MB per k-mesh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2634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And every measurement of </a:t>
            </a:r>
            <a:r>
              <a:rPr sz="1500">
                <a:solidFill>
                  <a:srgbClr val="9CDCFE"/>
                </a:solidFill>
                <a:latin typeface="Consolas"/>
              </a:rPr>
              <a:t>ELECTRON_STATE</a:t>
            </a:r>
            <a:r>
              <a:rPr sz="1600">
                <a:solidFill>
                  <a:srgbClr val="D0D0D0"/>
                </a:solidFill>
                <a:latin typeface="Calibri"/>
              </a:rPr>
              <a:t> returns a much smaller object: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9834"/>
            <a:ext cx="11277295" cy="934059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MEASURE_DENSITY(ELECTRON_STATE)         -&gt; Field         // small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MEASURE_BAND_STRUCTURE(ELECTRON_STATE)  -&gt; BandSet       // small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MEASURE_ENERGY(ELECTRON_STATE)          -&gt; Scalar        // tiny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3362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So the dense form is never built. The encoding keeps cheap views and requires them to agree.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05   </a:t>
            </a:r>
            <a:r>
              <a:rPr sz="3200" b="1">
                <a:solidFill>
                  <a:srgbClr val="F0F0F0"/>
                </a:solidFill>
                <a:latin typeface="Calibri"/>
              </a:rPr>
              <a:t>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Each view is a change of representation chosen by the sub-problem: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77295" cy="1373886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ELECTRON_STATE_PERIODIC_VIEW    := AS_PERIODIC_VIEW(ELECTRON_STATE)     // periodic bulk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ELECTRON_STATE_POSITION_VIEW    := AS_POSITION_VIEW(ELECTRON_STATE)     // defects, surfaces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ELECTRON_STATE_LOCALIZED_VIEW   := AS_LOCALIZED_VIEW(ELECTRON_STATE)    // interfaces, dangling bonds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ELECTRON_STATE_LOW_RANK_VIEW    := AS_LOW_RANK_VIEW(ELECTRON_STATE)     // low-rank screening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ELECTRON_STATE_SYMMETRY_VIEW    := AS_SYMMETRY_VIEW(ELECTRON_STATE)     // quotient by space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2374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Transcoders move between views; the views and transcoders form a small diagram.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06   </a:t>
            </a:r>
            <a:r>
              <a:rPr sz="3200" b="1">
                <a:solidFill>
                  <a:srgbClr val="F0F0F0"/>
                </a:solidFill>
                <a:latin typeface="Calibri"/>
              </a:rPr>
              <a:t>Pullback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Every view has to give the same answer to the same physical query: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77295" cy="1593799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            STATE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           /     \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AS_PERIODIC_VIEW()   AS_POSITION_VIEW()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           \     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            v  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 CHARGE_DENSITY := MEASURE_DENSITY(...)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12287"/>
            <a:ext cx="11277295" cy="115397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DENSITY_VIA_PERIODIC_VIEW := MEASURE_DENSITY( AS_PERIODIC_VIEW(STATE) 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DENSITY_VIA_POSITION_VIEW := MEASURE_DENSITY( AS_POSITION_VIEW(STATE) 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ASSERT</a:t>
            </a:r>
            <a:r>
              <a:rPr sz="1300">
                <a:solidFill>
                  <a:srgbClr val="9CDCFE"/>
                </a:solidFill>
                <a:latin typeface="Consolas"/>
              </a:rPr>
              <a:t>( DENSITY_VIA_PERIODIC_VIEW </a:t>
            </a:r>
            <a:r>
              <a:rPr sz="1300">
                <a:solidFill>
                  <a:srgbClr val="B5CEA8"/>
                </a:solidFill>
                <a:latin typeface="Consolas"/>
              </a:rPr>
              <a:t>==</a:t>
            </a:r>
            <a:r>
              <a:rPr sz="1300">
                <a:solidFill>
                  <a:srgbClr val="9CDCFE"/>
                </a:solidFill>
                <a:latin typeface="Consolas"/>
              </a:rPr>
              <a:t> DENSITY_VIA_POSITION_VIEW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75988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The object that sits above every view, forced to agree through every measurement, is what category theory calls a pullback.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07   </a:t>
            </a:r>
            <a:r>
              <a:rPr sz="3200" b="1">
                <a:solidFill>
                  <a:srgbClr val="F0F0F0"/>
                </a:solidFill>
                <a:latin typeface="Calibri"/>
              </a:rPr>
              <a:t>Residual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8"/>
              </a:spcAft>
            </a:pPr>
            <a:r>
              <a:rPr sz="915">
                <a:solidFill>
                  <a:srgbClr val="D0D0D0"/>
                </a:solidFill>
                <a:latin typeface="Calibri"/>
              </a:rPr>
              <a:t>Same shape as the previous slide, different labels. One leg goes through the law, the other through the state. The gap between them is the residual: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77295" cy="1657850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       CANDIDATE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      /         \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APPLY_LAW()       READ_FROM_STATE()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      \         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       v      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PREDICTED_DENSITY    OBSERVED_DENSITY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       \      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        v    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</a:t>
            </a:r>
            <a:r>
              <a:rPr sz="743">
                <a:solidFill>
                  <a:srgbClr val="B5CEA8"/>
                </a:solidFill>
                <a:latin typeface="Consolas"/>
              </a:rPr>
              <a:t>RESIDUAL</a:t>
            </a:r>
            <a:r>
              <a:rPr sz="743">
                <a:solidFill>
                  <a:srgbClr val="9CDCFE"/>
                </a:solidFill>
                <a:latin typeface="Consolas"/>
              </a:rPr>
              <a:t> := DIFF(PREDICTED, OBSERVED)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          </a:t>
            </a:r>
            <a:r>
              <a:rPr sz="743">
                <a:solidFill>
                  <a:srgbClr val="B5CEA8"/>
                </a:solidFill>
                <a:latin typeface="Consolas"/>
              </a:rPr>
              <a:t>ASSERT</a:t>
            </a:r>
            <a:r>
              <a:rPr sz="743">
                <a:solidFill>
                  <a:srgbClr val="9CDCFE"/>
                </a:solidFill>
                <a:latin typeface="Consolas"/>
              </a:rPr>
              <a:t>( IS_NEAR_ZERO(</a:t>
            </a:r>
            <a:r>
              <a:rPr sz="743">
                <a:solidFill>
                  <a:srgbClr val="B5CEA8"/>
                </a:solidFill>
                <a:latin typeface="Consolas"/>
              </a:rPr>
              <a:t>RESIDUAL</a:t>
            </a:r>
            <a:r>
              <a:rPr sz="743">
                <a:solidFill>
                  <a:srgbClr val="9CDCFE"/>
                </a:solidFill>
                <a:latin typeface="Consolas"/>
              </a:rPr>
              <a:t>)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84898"/>
            <a:ext cx="11277295" cy="903197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PREDICTED := APPLY_LAW(CANDIDATE)         // what the law gives for this candidate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OBSERVED  := READ_FROM_STATE(CANDIDATE)   // what the candidate's own values give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B5CEA8"/>
                </a:solidFill>
                <a:latin typeface="Consolas"/>
              </a:rPr>
              <a:t>RESIDUAL</a:t>
            </a:r>
            <a:r>
              <a:rPr sz="743">
                <a:solidFill>
                  <a:srgbClr val="9CDCFE"/>
                </a:solidFill>
                <a:latin typeface="Consolas"/>
              </a:rPr>
              <a:t>  := DIFF(PREDICTED, OBSERVED)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B5CEA8"/>
                </a:solidFill>
                <a:latin typeface="Consolas"/>
              </a:rPr>
              <a:t>ASSERT</a:t>
            </a:r>
            <a:r>
              <a:rPr sz="743">
                <a:solidFill>
                  <a:srgbClr val="9CDCFE"/>
                </a:solidFill>
                <a:latin typeface="Consolas"/>
              </a:rPr>
              <a:t>( IS_NEAR_ZERO(</a:t>
            </a:r>
            <a:r>
              <a:rPr sz="743">
                <a:solidFill>
                  <a:srgbClr val="B5CEA8"/>
                </a:solidFill>
                <a:latin typeface="Consolas"/>
              </a:rPr>
              <a:t>RESIDUAL</a:t>
            </a:r>
            <a:r>
              <a:rPr sz="743">
                <a:solidFill>
                  <a:srgbClr val="9CDCFE"/>
                </a:solidFill>
                <a:latin typeface="Consolas"/>
              </a:rPr>
              <a:t>)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97823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8"/>
              </a:spcAft>
            </a:pPr>
            <a:r>
              <a:rPr sz="915">
                <a:solidFill>
                  <a:srgbClr val="D0D0D0"/>
                </a:solidFill>
                <a:latin typeface="Calibri"/>
              </a:rPr>
              <a:t>A few examples in this form: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63583"/>
            <a:ext cx="11277295" cy="1909401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// Charge continuity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B5CEA8"/>
                </a:solidFill>
                <a:latin typeface="Consolas"/>
              </a:rPr>
              <a:t>ASSERT</a:t>
            </a:r>
            <a:r>
              <a:rPr sz="743">
                <a:solidFill>
                  <a:srgbClr val="9CDCFE"/>
                </a:solidFill>
                <a:latin typeface="Consolas"/>
              </a:rPr>
              <a:t>( IS_NEAR_ZERO( DIFF(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APPLY_CONTINUITY_LAW(CANDIDATE),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READ_DENSITY_RATE(CANDIDATE)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)))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// Translation invariance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B5CEA8"/>
                </a:solidFill>
                <a:latin typeface="Consolas"/>
              </a:rPr>
              <a:t>ASSERT</a:t>
            </a:r>
            <a:r>
              <a:rPr sz="743">
                <a:solidFill>
                  <a:srgbClr val="9CDCFE"/>
                </a:solidFill>
                <a:latin typeface="Consolas"/>
              </a:rPr>
              <a:t>( IS_NEAR_ZERO(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    SUM_OVER_FORCE_CONSTANTS( READ_FORCE_CONSTANT_MATRIX(CANDIDATE) 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9CDCFE"/>
                </a:solidFill>
                <a:latin typeface="Consolas"/>
              </a:rPr>
              <a:t>// Mechanical stability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3">
                <a:solidFill>
                  <a:srgbClr val="B5CEA8"/>
                </a:solidFill>
                <a:latin typeface="Consolas"/>
              </a:rPr>
              <a:t>ASSERT</a:t>
            </a:r>
            <a:r>
              <a:rPr sz="743">
                <a:solidFill>
                  <a:srgbClr val="9CDCFE"/>
                </a:solidFill>
                <a:latin typeface="Consolas"/>
              </a:rPr>
              <a:t>( IS_POSITIVE_DEFINITE( READ_STIFFNESS_TENSOR(CANDIDATE) 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8271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8"/>
              </a:spcAft>
            </a:pPr>
            <a:r>
              <a:rPr sz="915">
                <a:solidFill>
                  <a:srgbClr val="D0D0D0"/>
                </a:solidFill>
                <a:latin typeface="Calibri"/>
              </a:rPr>
              <a:t>Each one is a single check on a candidate. None of them runs a trajectory.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08   </a:t>
            </a:r>
            <a:r>
              <a:rPr sz="3200" b="1">
                <a:solidFill>
                  <a:srgbClr val="F0F0F0"/>
                </a:solidFill>
                <a:latin typeface="Calibri"/>
              </a:rPr>
              <a:t>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181371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SIMULATION: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PREDICTED := INTEGRATE_LAWS_FORWARD( INITIAL_STATE, T_LONG 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// many steps, full evolution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RESIDUAL</a:t>
            </a:r>
            <a:r>
              <a:rPr sz="1300">
                <a:solidFill>
                  <a:srgbClr val="9CDCFE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PREDICTED := APPLY_LAW( CANDIDATE 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// one call, on a single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75000"/>
            <a:ext cx="1127729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Both produce a value of the same type. Simulation arrives at it through full integration; the residual reaches it with a single call to </a:t>
            </a:r>
            <a:r>
              <a:rPr sz="1500">
                <a:solidFill>
                  <a:srgbClr val="9CDCFE"/>
                </a:solidFill>
                <a:latin typeface="Consolas"/>
              </a:rPr>
              <a:t>APPLY_LAW</a:t>
            </a:r>
            <a:r>
              <a:rPr sz="1600">
                <a:solidFill>
                  <a:srgbClr val="D0D0D0"/>
                </a:solidFill>
                <a:latin typeface="Calibri"/>
              </a:rPr>
              <a:t> and compares. The check lives in a small output (a scalar, a field, a band structure); the simulation that would produce the same output is many times larger.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24808"/>
            <a:ext cx="11277295" cy="934059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SIZE( DENSE_ELECTRON_STATE   )  </a:t>
            </a:r>
            <a:r>
              <a:rPr sz="1300">
                <a:solidFill>
                  <a:srgbClr val="B5CEA8"/>
                </a:solidFill>
                <a:latin typeface="Consolas"/>
              </a:rPr>
              <a:t>==</a:t>
            </a:r>
            <a:r>
              <a:rPr sz="1300">
                <a:solidFill>
                  <a:srgbClr val="9CDCFE"/>
                </a:solidFill>
                <a:latin typeface="Consolas"/>
              </a:rPr>
              <a:t>  460 MB    // would-be simulation footprint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SIZE( ORBITAL_ELECTRON_STATE )  </a:t>
            </a:r>
            <a:r>
              <a:rPr sz="1300">
                <a:solidFill>
                  <a:srgbClr val="B5CEA8"/>
                </a:solidFill>
                <a:latin typeface="Consolas"/>
              </a:rPr>
              <a:t>==</a:t>
            </a:r>
            <a:r>
              <a:rPr sz="1300">
                <a:solidFill>
                  <a:srgbClr val="9CDCFE"/>
                </a:solidFill>
                <a:latin typeface="Consolas"/>
              </a:rPr>
              <a:t>   18 MB    // actual encoded size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RATIO                           </a:t>
            </a:r>
            <a:r>
              <a:rPr sz="1300">
                <a:solidFill>
                  <a:srgbClr val="B5CEA8"/>
                </a:solidFill>
                <a:latin typeface="Consolas"/>
              </a:rPr>
              <a:t>==</a:t>
            </a:r>
            <a:r>
              <a:rPr sz="1300">
                <a:solidFill>
                  <a:srgbClr val="9CDCFE"/>
                </a:solidFill>
                <a:latin typeface="Consolas"/>
              </a:rPr>
              <a:t>  ~25x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68595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The same gap shows up between running a kinetic transport solve and checking detailed balance: same physics, very different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09   </a:t>
            </a:r>
            <a:r>
              <a:rPr sz="3200" b="1">
                <a:solidFill>
                  <a:srgbClr val="F0F0F0"/>
                </a:solidFill>
                <a:latin typeface="Calibri"/>
              </a:rPr>
              <a:t>Residual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308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21"/>
              </a:spcAft>
            </a:pPr>
            <a:r>
              <a:rPr sz="1285">
                <a:solidFill>
                  <a:srgbClr val="D0D0D0"/>
                </a:solidFill>
                <a:latin typeface="Calibri"/>
              </a:rPr>
              <a:t>Each residual published by </a:t>
            </a:r>
            <a:r>
              <a:rPr sz="1185">
                <a:solidFill>
                  <a:srgbClr val="9CDCFE"/>
                </a:solidFill>
                <a:latin typeface="Consolas"/>
              </a:rPr>
              <a:t>/physics</a:t>
            </a:r>
            <a:r>
              <a:rPr sz="1285">
                <a:solidFill>
                  <a:srgbClr val="D0D0D0"/>
                </a:solidFill>
                <a:latin typeface="Calibri"/>
              </a:rPr>
              <a:t> carries metadata describing what it costs and how its derivative is delivered: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51212"/>
            <a:ext cx="11277295" cy="1510957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B5CEA8"/>
                </a:solidFill>
                <a:latin typeface="Consolas"/>
              </a:rPr>
              <a:t>RESIDUAL</a:t>
            </a:r>
            <a:r>
              <a:rPr sz="1044">
                <a:solidFill>
                  <a:srgbClr val="9CDCFE"/>
                </a:solidFill>
                <a:latin typeface="Consolas"/>
              </a:rPr>
              <a:t> :=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NAME,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SIGNATURE     : (CANDIDATE) -&gt; Scalar,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COST_TIER     : T0 | T1 | T2 | T3,    // per-step / per-batch / per-epoch / on-demand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DIFF_TAG      : D0 | D1 | D2 | D3 | D4, // closed-form / native / adjoint / finite-diff / non-diff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BUNDLE        : B1..B11,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71897"/>
            <a:ext cx="11277295" cy="308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21"/>
              </a:spcAft>
            </a:pPr>
            <a:r>
              <a:rPr sz="1285">
                <a:solidFill>
                  <a:srgbClr val="D0D0D0"/>
                </a:solidFill>
                <a:latin typeface="Calibri"/>
              </a:rPr>
              <a:t>Two example partitions over the same catalog: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1550"/>
            <a:ext cx="11277295" cy="257093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CHEAP_AND_FAST := [                       // T0, closed-form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TRANSLATION_INVARIANCE_CHECK,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DIFFUSION_MOBILITY_LINK,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MECHANICAL_STABILITY_CHECK,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POSITIVITY_OF_DENSITY,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ENERGY_OPERATOR_REAL_VALUED,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EXPENSIVE_AND_FAITHFUL := [               // T2-T3, kinetic/many-body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FAITHFUL_VIBRATION_SPECTRUM,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FAITHFUL_TRANSPORT_CONDUCTIVITY,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    FAITHFUL_BAND_GAP_CORRECTION,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4">
                <a:solidFill>
                  <a:srgbClr val="9CDCFE"/>
                </a:solidFill>
                <a:latin typeface="Consolas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52210"/>
            <a:ext cx="11277295" cy="308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21"/>
              </a:spcAft>
            </a:pPr>
            <a:r>
              <a:rPr sz="1285">
                <a:solidFill>
                  <a:srgbClr val="D0D0D0"/>
                </a:solidFill>
                <a:latin typeface="Calibri"/>
              </a:rPr>
              <a:t>How a consumer schedules these — every step, periodically, on demand — is the consumer's choice. </a:t>
            </a:r>
            <a:r>
              <a:rPr sz="1185">
                <a:solidFill>
                  <a:srgbClr val="9CDCFE"/>
                </a:solidFill>
                <a:latin typeface="Consolas"/>
              </a:rPr>
              <a:t>/physics</a:t>
            </a:r>
            <a:r>
              <a:rPr sz="1285">
                <a:solidFill>
                  <a:srgbClr val="D0D0D0"/>
                </a:solidFill>
                <a:latin typeface="Calibri"/>
              </a:rPr>
              <a:t> only publishes the residuals and their 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6A6A6A"/>
                </a:solidFill>
                <a:latin typeface="Calibri"/>
              </a:rPr>
              <a:t>10   </a:t>
            </a:r>
            <a:r>
              <a:rPr sz="3200" b="1">
                <a:solidFill>
                  <a:srgbClr val="F0F0F0"/>
                </a:solidFill>
                <a:latin typeface="Calibri"/>
              </a:rPr>
              <a:t>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/physics</a:t>
            </a:r>
            <a:r>
              <a:rPr sz="1600">
                <a:solidFill>
                  <a:srgbClr val="D0D0D0"/>
                </a:solidFill>
                <a:latin typeface="Calibri"/>
              </a:rPr>
              <a:t> exposes a contract, not a training set: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77295" cy="2253538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non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PHYSICS_API :=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STATE_TYPE          : &lt;the 7-field struct&gt;,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RESIDUAL_CATALOG    : List[Residual],         // each tagged per slide 9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</a:t>
            </a:r>
            <a:r>
              <a:rPr sz="1300">
                <a:solidFill>
                  <a:srgbClr val="B5CEA8"/>
                </a:solidFill>
                <a:latin typeface="Consolas"/>
              </a:rPr>
              <a:t>PULLBACK_CHECK</a:t>
            </a:r>
            <a:r>
              <a:rPr sz="1300">
                <a:solidFill>
                  <a:srgbClr val="9CDCFE"/>
                </a:solidFill>
                <a:latin typeface="Consolas"/>
              </a:rPr>
              <a:t>      : (STATE) -&gt; Bool,        // views agree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METADATA            : { COST_TIER, DIFF_TAG, BUNDLE, ... },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VALID_STATE_PREDICATE</a:t>
            </a:r>
            <a:r>
              <a:rPr sz="1300">
                <a:solidFill>
                  <a:srgbClr val="9CDCFE"/>
                </a:solidFill>
                <a:latin typeface="Consolas"/>
              </a:rPr>
              <a:t> := (STATE) 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all( IS_NEAR_ZERO( R(STATE) ) for R in RESIDUAL_CATALOG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72026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D0D0D0"/>
                </a:solidFill>
                <a:latin typeface="Calibri"/>
              </a:rPr>
              <a:t>The library defines what a valid state is and gives a way to test candidates. How candidates are produced and how the test is used downstream are the consumer's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